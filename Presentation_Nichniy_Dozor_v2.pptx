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52447" y="1508760"/>
            <a:ext cx="8686800" cy="38404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228600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4A9EFF"/>
                </a:solidFill>
              </a:defRPr>
            </a:pPr>
            <a:r>
              <a:t>НІЧНИЙ ДОЗОР</a:t>
            </a:r>
          </a:p>
          <a:p>
            <a:pPr algn="ctr">
              <a:spcBef>
                <a:spcPts val="1200"/>
              </a:spcBef>
              <a:defRPr sz="2200">
                <a:solidFill>
                  <a:srgbClr val="FFD740"/>
                </a:solidFill>
              </a:defRPr>
            </a:pPr>
            <a:r>
              <a:t>Tower Defense · Unity · URP</a:t>
            </a:r>
          </a:p>
          <a:p>
            <a:pPr algn="ctr">
              <a:spcBef>
                <a:spcPts val="2000"/>
              </a:spcBef>
              <a:defRPr sz="1700">
                <a:solidFill>
                  <a:srgbClr val="8A98B0"/>
                </a:solidFill>
              </a:defRPr>
            </a:pPr>
            <a:r>
              <a:t>Ніч + дозор біля кристалу — ти тримаєш оборону до ранку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1. Механіки з RANDOM.ORG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8696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3 ряди × 3 числа · обрано по 1 з кожного</a:t>
            </a:r>
          </a:p>
        </p:txBody>
      </p:sp>
      <p:pic>
        <p:nvPicPr>
          <p:cNvPr id="4" name="Picture 3" descr="random_row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479" y="1170432"/>
            <a:ext cx="1115568" cy="577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4479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№10</a:t>
            </a:r>
          </a:p>
        </p:txBody>
      </p:sp>
      <p:pic>
        <p:nvPicPr>
          <p:cNvPr id="6" name="Picture 5" descr="random_row1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63" y="1170432"/>
            <a:ext cx="1115568" cy="988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8063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№15</a:t>
            </a:r>
          </a:p>
        </p:txBody>
      </p:sp>
      <p:pic>
        <p:nvPicPr>
          <p:cNvPr id="8" name="Picture 7" descr="random_row1_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7" y="1170432"/>
            <a:ext cx="1115568" cy="7363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54215" y="1143000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№21</a:t>
            </a:r>
          </a:p>
        </p:txBody>
      </p:sp>
      <p:pic>
        <p:nvPicPr>
          <p:cNvPr id="11" name="Picture 10" descr="random_row2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479" y="2231136"/>
            <a:ext cx="1115568" cy="13179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67047" y="2203704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4479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№27</a:t>
            </a:r>
          </a:p>
        </p:txBody>
      </p:sp>
      <p:pic>
        <p:nvPicPr>
          <p:cNvPr id="14" name="Picture 13" descr="random_row2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063" y="2231136"/>
            <a:ext cx="1115568" cy="13495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8063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№4</a:t>
            </a:r>
          </a:p>
        </p:txBody>
      </p:sp>
      <p:pic>
        <p:nvPicPr>
          <p:cNvPr id="16" name="Picture 15" descr="random_row2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647" y="2231136"/>
            <a:ext cx="1115568" cy="14108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81647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№13</a:t>
            </a:r>
          </a:p>
        </p:txBody>
      </p:sp>
      <p:pic>
        <p:nvPicPr>
          <p:cNvPr id="18" name="Picture 17" descr="random_row3_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4479" y="3291839"/>
            <a:ext cx="1115568" cy="14496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4479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№5</a:t>
            </a:r>
          </a:p>
        </p:txBody>
      </p:sp>
      <p:pic>
        <p:nvPicPr>
          <p:cNvPr id="20" name="Picture 19" descr="random_row3_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8063" y="3291839"/>
            <a:ext cx="1115568" cy="11574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510631" y="3264408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8063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№11</a:t>
            </a:r>
          </a:p>
        </p:txBody>
      </p:sp>
      <p:pic>
        <p:nvPicPr>
          <p:cNvPr id="23" name="Picture 22" descr="random_row3_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647" y="3291839"/>
            <a:ext cx="1115568" cy="1266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647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6807" y="4690872"/>
            <a:ext cx="7498079" cy="20574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9687" y="4892040"/>
            <a:ext cx="713231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D740"/>
                </a:solidFill>
              </a:defRPr>
            </a:pPr>
            <a:r>
              <a:t>Обрані механіки</a:t>
            </a:r>
          </a:p>
          <a:p>
            <a:pPr algn="ctr">
              <a:defRPr b="0" sz="600">
                <a:solidFill>
                  <a:srgbClr val="EAF0FA"/>
                </a:solidFill>
              </a:defRPr>
            </a:pPr>
          </a:p>
          <a:p>
            <a:pPr algn="ctr">
              <a:defRPr b="1" sz="1600">
                <a:solidFill>
                  <a:srgbClr val="45C470"/>
                </a:solidFill>
              </a:defRPr>
            </a:pPr>
            <a:r>
              <a:t>21 — Стартовий вибір  ·  27 — Часові обмеження  ·  11 — Захист цілі</a:t>
            </a:r>
          </a:p>
          <a:p>
            <a:pPr algn="ctr">
              <a:defRPr b="0" sz="800">
                <a:solidFill>
                  <a:srgbClr val="EAF0FA"/>
                </a:solidFill>
              </a:defRPr>
            </a:pPr>
          </a:p>
          <a:p>
            <a:pPr algn="ctr">
              <a:defRPr b="0" sz="1400">
                <a:solidFill>
                  <a:srgbClr val="8A98B0"/>
                </a:solidFill>
              </a:defRPr>
            </a:pPr>
            <a:r>
              <a:t>+ нагорода після 4-ї хвилі (3 випадкових бонуси з 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2. Реалізація в грі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1051560"/>
            <a:ext cx="9601200" cy="47548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21 · Стартовий вибір — складність + 3 раси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27 · Таймер хвилі, overtime шкодить кристалу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11 · Захист кристалу — центральна механіка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Нагорода після 4-ї хвилі: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3 випадкових бонуси з пулу 9 (золото, лучники, HP…)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6 башен · 10 хвиль · апгрейд · 3 складності · режим АД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3. Чому обрано ці механіки?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234440"/>
            <a:ext cx="9144000" cy="43891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2447" y="1554480"/>
            <a:ext cx="8686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Стартовий вибір + захист цілі — класика TD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Таймер додає напругу без надмірної складності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Нагорода на 4-й хвилі — roguelike-елемент середини гри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Простий, але завершений прототип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4. Надихнення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447" y="1325880"/>
            <a:ext cx="8686800" cy="41148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2447" y="1600200"/>
            <a:ext cx="868680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Kingdom Rush, Bloons TD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Fantasy: ельфи, гноми, орки, кристал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Kenney low-poly · нічна атмосфера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Roguelike-нагороди на milestone-хвилях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5. Сетинг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Світ «Нічного Дозору»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5247" y="1097280"/>
            <a:ext cx="96012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Ніч — орди ворогів з трьох порталів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Кристал — те, що треба захистити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«Дозор» — ти чергуєш біля кристалу всю ніч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3 фракції захисників з унікальними бонусами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Після 4-ї хвилі — особлива нагорода дозору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Нагорода за 4-у хвилю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9 бонусів у базі · 3 випадкових на вибір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960120"/>
            <a:ext cx="10515600" cy="50292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4389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Золотий приплив — +200g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Багате полювання — +30% золота за kill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Податок переможців — +40g за хвилю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Швидкі лучники — +15% атака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Важка артилерія — +20% урон гармати/мортири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389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Крижана буря — slow +0.8с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Розширений дальнобій — +10% range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Майстер апгрейду — −25% ціна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Міцний кристал — +30 HP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6. Стиль гри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325880"/>
            <a:ext cx="9144000" cy="42062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2447" y="1600200"/>
            <a:ext cx="868680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Low-poly 3D · URP · темна нічна палітра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Кольорове кодування башен і UI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Центровані модальні панелі (нагорода, меню)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Ефекти: снаряди, заморозка, зірки апгрейду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7. Головне меню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Складність · раса · старт гри</a:t>
            </a:r>
          </a:p>
        </p:txBody>
      </p:sp>
      <p:pic>
        <p:nvPicPr>
          <p:cNvPr id="4" name="Picture 3" descr="screenshot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6489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3847" y="58064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3 рівні складності (Легко / Середнє / АД)</a:t>
            </a:r>
          </a:p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3 раси з унікальними бонусами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8. Геймплей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41832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Будівництво башен · захист кристалу</a:t>
            </a:r>
          </a:p>
        </p:txBody>
      </p:sp>
      <p:pic>
        <p:nvPicPr>
          <p:cNvPr id="4" name="Picture 3" descr="screenshot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960120"/>
            <a:ext cx="9875520" cy="4841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647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6 типів башен · HP-кристал · таймер хвилі · золото</a:t>
            </a:r>
          </a:p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Після 4-ї хвилі — вибір 1 бонусу з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9. Ігровий процес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1097280"/>
            <a:ext cx="96012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Обрати складність і расу → будувати башні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Відбити 4 хвилі → обрати 1 бонус з 3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Апгрейд / продаж / (АД) ремонт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10 хвиль, таймер, бос, перемога/поразка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10. Відео геймплею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371600"/>
            <a:ext cx="9144000" cy="41148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8A98B0"/>
                </a:solidFill>
              </a:defRPr>
            </a:pPr>
            <a:r>
              <a:t>▶  ВСТАВТЕ ВІДЕО ТУТ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247" y="2286000"/>
            <a:ext cx="7315200" cy="2286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265176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A9EFF"/>
                </a:solidFill>
              </a:defRPr>
            </a:pPr>
            <a:r>
              <a:t>Дякуємо за увагу!</a:t>
            </a:r>
          </a:p>
          <a:p>
            <a:pPr algn="ctr">
              <a:defRPr sz="2000">
                <a:solidFill>
                  <a:srgbClr val="8A98B0"/>
                </a:solidFill>
              </a:defRPr>
            </a:pPr>
            <a:r>
              <a:t>Нічний Дозор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